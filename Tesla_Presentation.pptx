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mn)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53823</c:v>
                </c:pt>
                <c:pt idx="1">
                  <c:v>81462</c:v>
                </c:pt>
                <c:pt idx="2">
                  <c:v>96773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 (USD mn)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5519</c:v>
                </c:pt>
                <c:pt idx="1">
                  <c:v>12556</c:v>
                </c:pt>
                <c:pt idx="2">
                  <c:v>14997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Tesla: From Innovation to Leadership — The Journey of Business Management and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Course Team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F5F5"/>
                </a:solidFill>
              </a:defRPr>
            </a:pPr>
            <a:r>
              <a:t>Academic &amp; Business Presentation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A strategic and managerial analysis of Tesla’s evolution, operating model, and growth choices.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Prepared with an evidence-based approach using official disclosures and trusted industry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Primary references include Tesla Form 10-K FY2023, Tesla investor updates, and official public sources.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Opening Hook: Why Tesla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Opening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did not only launch EV products—it challenged how an auto company is designed, financed, and managed.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Its strategy links product, software, manufacturing, and brand into one integrated growth engine.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The key question: Which management choices created leadership, and which choices increase future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Context synthesized from Tesla Form 10-K FY2023 and Tesla Investor Relations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All Presenters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Introduction and Overview of Tesla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Market and Opportunity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Business Model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Strategy and Competitive Advantage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Strategic Leadership and Decision-Making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Human Resources, Organizational Structure, and Culture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Production and Supply Chain at Tesla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Marketing and Brand Building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Financial Performance and Management at Tesla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Challenges and Future Opportunities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Conclusion and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Agenda follows the required section 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1) Introduction and Overview of Tesla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Youssef Mohamed Ibrahim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Tesla, Inc. is an integrated clean energy and electric mobility company with automotive and energy segments.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Core activities span vehicle design, manufacturing, software development, charging infrastructure, and energy storage.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Mission focus: accelerating the world’s transition to sustainable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Form 10-K FY2023, “Business” and “Overview” sections.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Tesla Origins, Development, Activities,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Youssef Mohamed Ibrahim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Origins: founded in 2003; public listing in 2010; scaled from niche premium EVs to high-volume global platforms.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Development milestones include gigafactory expansion, vertically integrated software stack, and charging ecosystem growth.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Objectives combine volume growth, lower unit costs, and long-term software/energy ecosystem expansion.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Form 10-K FY2023; Tesla company timeline and investor materials.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1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Youssef Mohamed Ibrahim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evolved from product innovation into a management system that links strategy, operations, and technology.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Its integrated objective is scale + efficiency + platform effects across mobility and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2: market structure and competitive dynamics.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2) Market and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Soheir Ahmed Hassan Sayed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Global auto demand is transitioning from ICE to electrified vehicles under regulatory, cost, and technology pressure.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competes with both legacy manufacturers and EV-native entrants across multiple price and segment tiers.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Opportunity depends on scale economics, charging convenience, software capability, and supply resilience.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IEA Global EV Outlook (latest edition), Tesla Form 10-K FY2023 risk and competition disclosures.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Market Transition: Tesla vs. Traditional Manufacturers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Soheir Ahmed Hassan Sayed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Legacy OEMs carry transition complexity: ICE asset base, dealer systems, and slower software integration cycles.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Tesla’s direct model and unified software architecture support faster iteration and pricing response.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Competitive pressure is increasing as global EV offerings expand and price competition intensifies.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Form 10-K FY2023; public filings from incumbent automakers; IEA transition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Porter’s Five Forces (Tesla Focus)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Soheir Ahmed Hassan Sayed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Rivalry: High and rising due to EV scaling by incumbents and new entrants.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Buyer power: Increasing as alternatives improve and price transparency rises.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Supplier power: Moderate to high in battery materials and selected semiconductor categories.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Threat of substitutes: Moderate (public transit, hybrids, ICE in some markets).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Threat of new entrants: Moderate (high capital and execution barriers, but strong policy pull for EVs).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Framework interpretation based on Tesla disclosures and industry structure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2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Soheir Ahmed Hassan Sayed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The opportunity remains large, but advantage depends on operating discipline and strategic adaptability.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Market leadership now requires defending margins while sustaining innovation speed.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3: how Tesla’s business model captures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3)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Shorouk El-Sayed Badawy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monetizes across vehicle sales, software-enabled features, services, and energy products.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The model combines product margins with long-term lifecycle revenue opportunities.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Control over key activities improves speed and consistency, but raises execution burden.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Form 10-K FY2023 segment and revenue disclosures.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Business Model Canvas: Value, Customers, Revenue,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Shorouk El-Sayed Badawy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Value proposition: high-performance EVs, software-centric experience, integrated charging, and clean-energy ecosystem.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Customer segments: retail drivers, fleet buyers, energy customers, and software feature subscribers.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Revenue streams: automotive sales, regulatory credits, services/other, and energy generation &amp; storage.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Channels: direct digital/physical sales, service centers, charging network, and online account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Form 10-K FY2023.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Business Model Canvas: Resources, Partners,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Shorouk El-Sayed Badawy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Key resources: manufacturing footprint, software stack, data/AI capability, brand, and engineering talent.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Key partners: raw material suppliers, cell partners, logistics providers, and infrastructure partners.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Cost structure: manufacturing scale investments, R&amp;D, supply-chain inputs, and service/charging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Form 10-K FY2023; Tesla supplier and manufacturing disclosures.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Shorouk El-Sayed Badawy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Tesla’s business model is a platform-like system where manufacturing and software reinforce each other.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The model is defensible when innovation pace and cost efficiency are sustained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4: strategy choices and competitive advantage.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4) Strategy and 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Salma Mohamed Hassan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Strategy combines aggressive cost reduction, direct selling, software differentiation, and vertical integration.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A unified technology stack enables faster feature deployment and operational feedback loops.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Competitive advantage depends on scale learning, brand trust, and execution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Form 10-K FY2023; Tesla Investor Day strategy communications.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Pricing, Direct Selling, Innovation, Software, Vertical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Salma Mohamed Hassan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Dynamic pricing can stimulate demand but may pressure margins and customer sentiment.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Direct selling supports data continuity and customer experience control.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In-house software and OTA updates create continuous product evolution post-purchase.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Vertical integration improves coordination, but concentrates operational and capital intensity risks.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filings and investor communications on pricing and operations.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Salma Mohamed Hassan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Strengths: brand power, software capability, charging ecosystem, manufacturing scale.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Weaknesses: concentration risk, high execution complexity, sensitivity to leadership signaling.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Opportunities: energy storage growth, software monetization, global EV adoption expansion.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Threats: intense pricing competition, policy shifts, supply disruptions, reputation shocks.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Framework interpretation using Tesla risk disclosures and market reports.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Trade-offs Behind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Salma Mohamed Hassan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Speed vs. control: rapid decisions can outperform peers but increase error cost.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Integration vs. flexibility: tighter control improves quality loops but can limit optionality.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Scale vs. customization: global efficiency can conflict with local market adaptation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Strategy synthesis based on Tesla operating disclosures.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3736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>
                    <a:solidFill>
                      <a:srgbClr val="282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External</a:t>
                      </a:r>
                    </a:p>
                  </a:txBody>
                  <a:tcPr>
                    <a:solidFill>
                      <a:srgbClr val="282D3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Strengths</a:t>
                      </a:r>
                    </a:p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Brand, software, charging network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Opportunities</a:t>
                      </a:r>
                    </a:p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Energy growth, software monetization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Weaknesses</a:t>
                      </a:r>
                    </a:p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Execution complexity, concentration risk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Threats</a:t>
                      </a:r>
                    </a:p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Price wars, regulation, supply risks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4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Salma Mohamed Hassan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Tesla’s edge is strategic coherence across technology, channel, and operations.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Sustainable advantage requires balancing speed with governance and resilience.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5: leadership and strategic decision processes.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5) Strategic Leadership and Decision-Making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Mahmoud Mohamed Mahmoud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leadership has prioritized rapid execution, ambitious targets, and high public visibility.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Decision-making often reflects founder-led urgency with tight product-operations coupling.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Governance quality is evaluated through risk controls, board oversight, and transparency.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proxy/annual disclosures and governance sections in SEC filings.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Leadership and Governance: Balanced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Mahmoud Mohamed Mahmoud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Strength case: focused vision, organizational energy, and rapid strategic pivots.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Risk case: concentration of influence, key-person dependency, and communication volatility.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Management takeaway: high-growth leadership models need strong governance counterweights.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SEC governance disclosures; public governance analyses.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Decision-Making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Mahmoud Mohamed Mahmoud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As scale grows, ad hoc decisions must be complemented by repeatable management systems.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Cross-functional coordination between engineering, manufacturing, and finance is a core capability.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Resilient decision quality requires data discipline, accountability, and scenario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Management interpretation consistent with Tesla’s operational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5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Mahmoud Mohamed Mahmoud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demonstrates the power and limits of founder-driven strategic leadership.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Long-term performance depends on institutionalizing governance as complexity increases.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6: people, structure, and culture.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6) Human Resources, Organizational Structure, and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Rahaf Essam 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Tesla’s workforce strategy emphasizes engineering intensity, speed, and hands-on problem solving.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The structure is functionally strong with operations-engineering coordination around manufacturing goals.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Culture is often described as high-performance and mission-driven, with demanding execution standards.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Form 10-K FY2023 human capital disclosures and official career materials.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HR Structure, Culture, Recruitment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Rahaf Essam 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Recruitment prioritizes technical depth and execution readiness in fast-changing environments.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Organizational design supports rapid issue escalation from factory floor to engineering teams.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Culture supports innovation velocity but requires robust well-being and retention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human capital and workforce disclosures.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Competencies and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Rahaf Essam 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Core competencies: systems thinking, automation fluency, data-driven debugging, and cross-team communication.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Development focus includes role-based training, safety, leadership capability, and continuous improvement skills.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Sustainable performance depends on balancing intensity with capability development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HR analysis based on official Tesla disclosures; avoids unsupported claims.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6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Rahaf Essam 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People systems are strategic infrastructure, not support functions, in Tesla’s model.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Culture can accelerate growth when matched with structured talent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7: production and supply chain architecture.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7) Production and Supply Chain at Tesla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Mohamed Hany Abdel Aaty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Tesla’s production model combines global gigafactories, localized assembly, and process automation.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Supply-chain performance directly affects cost, delivery lead times, and gross margin outcomes.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Operational resilience depends on strategic sourcing and risk diversification.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Form 10-K FY2023 manufacturing and supply sections.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Factories and Industrial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Mohamed Hany Abdel Aaty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Major production hubs include Fremont, Shanghai, Berlin, and Texas with differentiated model roles.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Scaling output requires synchronized capacity in stamping, battery systems, final assembly, and logistics.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Factory localization can reduce tariff/logistics exposure while increasing regional responsiveness.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Form 10-K FY2023 and official facility disclosures.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Batteries, Raw Materials, Suppliers, and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Mohamed Hany Abdel Aaty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Battery economics are sensitive to lithium, nickel, graphite, and refining capacity dynamics.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Supplier concentration and geopolitical factors can affect continuity, pricing, and lead times.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Risk controls include multi-sourcing, long-term agreements, and design/process innovation.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risk disclosures; public commodity and battery supply analyses.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47548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Factory</a:t>
                      </a:r>
                    </a:p>
                  </a:txBody>
                  <a:tcPr>
                    <a:solidFill>
                      <a:srgbClr val="282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Primary role</a:t>
                      </a:r>
                    </a:p>
                  </a:txBody>
                  <a:tcPr>
                    <a:solidFill>
                      <a:srgbClr val="282D3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Fremont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Model S/X and part of Model 3/Y capacity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Shanghai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High-volume production for China and exports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Berlin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European manufacturing base (Model Y focus)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Texas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Model Y and strategic next-gen capacity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7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Mohamed Hany Abdel Aaty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Production excellence is a strategic moat when paired with resilient supply-chain management.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Future competitiveness depends on battery cost trajectory and manufacturing learning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8: marketing and brand systems.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8) Marketing and Brand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Abdelrahman Magdy Mohamed 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relies heavily on product-driven marketing, digital visibility, and customer advocacy.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Brand value is tied to innovation perception, performance credibility, and ownership experience.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Customer journey design (ordering, delivery, charging, software updates) supports differentiation.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communications and customer-experience disclosures.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Brand, Customer Experience, Referrals,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Abdelrahman Magdy Mohamed 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Word-of-mouth, owner communities, and referral programs have historically supported awareness efficiency.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Direct digital channels provide richer customer data and feedback loops than dealer-centric models.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After-sales service quality is critical to long-term loyalty and brand durability.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referral/community materials and customer disclosure context.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Elon Musk’s Public Influence and Reputation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Abdelrahman Magdy Mohamed 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Public leadership visibility can amplify brand reach and accelerate media attention.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The same visibility can increase volatility in brand perception and stakeholder reactions.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Brand governance should separate enduring value propositions from personality-driven narratives.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risk-factor disclosures regarding key personnel and reputation sensitivity.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8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Abdelrahman Magdy Mohamed 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Tesla’s brand is a strategic asset built through product, software, and community effects.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Sustaining trust requires reliable execution and disciplined reputation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9: financial performance and management.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9) Financial Performance and Management at Tesla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Evelyn Ishak Boktor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Verified financials (USD millions, fiscal years ended Dec 31):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Revenue: 2021 = 53,823 | 2022 = 81,462 | 2023 = 96,773.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Net income attributable to common stockholders: 2021 = 5,519 | 2022 = 12,556 | 2023 = 14,997.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Total assets (2023): 106,618 | Cash, cash equivalents and investments (2023): 29,094.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Form 10-K FY2023 (filed 2024-01-29), consolidated financial statements. Currency: USD millions.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Financial Analysis: Mix, Margins, and Capital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Evelyn Ishak Boktor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2023 revenue mix (USD millions): Automotive 82,419; Energy generation &amp; storage 6,035; Services &amp; other 8,319.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2023 operating income: 8,891 (USD millions), indicating margin pressure versus prior-year peak conditions.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Management focus: sustain growth while protecting free cash generation and balance-sheet flexibility.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Source: Tesla Form 10-K FY2023, segment and income-statement disclosures. Currency: USD millions.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26480" y="1691640"/>
          <a:ext cx="51206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9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Evelyn Ishak Boktor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remains financially significant in scale, but profitability is sensitive to pricing and cost cycles.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Strong liquidity supports strategic optionality during market volatility.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Section 10: future challenges and opportunities.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Metric (FY2023)</a:t>
                      </a:r>
                    </a:p>
                  </a:txBody>
                  <a:tcPr>
                    <a:solidFill>
                      <a:srgbClr val="282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USD millions</a:t>
                      </a:r>
                    </a:p>
                  </a:txBody>
                  <a:tcPr>
                    <a:solidFill>
                      <a:srgbClr val="282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Automotive revenue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82,419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Energy generation &amp; storage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6,035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Services &amp; other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8,319</a:t>
                      </a:r>
                    </a:p>
                  </a:txBody>
                  <a:tcPr>
                    <a:solidFill>
                      <a:srgbClr val="1418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10) Challenges and Future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Fares Atef Ismail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Challenges: price competition, regulatory shifts, supply-chain concentration, and execution complexity at scale.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Opportunities: energy storage expansion, manufacturing innovation, software monetization, and new segments.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Current vs announced capabilities: today’s deployed systems remain driver-supervised; announced autonomy/robotics ambitions remain roadmap-dependent until validated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Sources: Tesla risk factors and product communications; capability status should distinguish deployed vs announced.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Section 10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Fares Atef Ismail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Future value creation depends on disciplined execution under uncertainty, not announcements alone.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Managers should assess optionality using scenario-based planning and evidence thresholds.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Transition to final section: conclusion and lessons learned.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11) Conclusion and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Sama Mohamed Sedik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Tesla’s journey demonstrates how integrated strategy can transform an industry from niche to mainstream transition.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Leadership, operations, finance, and culture must align continuously to convert innovation into durable advantage.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The most transferable lesson: strategic coherence is as important as technological novelty.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Conclusion synthesized from the full case analysis and cited references.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Sama Mohamed Sedik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 is a strong business-management case because it combines breakthrough innovation with high-stakes execution.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For organizations: build adaptive systems, protect governance quality, and validate future claims with measurable outcomes.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For researchers and managers: monitor the interaction between strategy, capability, and market timing.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End of presentation.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2127"/>
                </a:solidFill>
              </a:defRPr>
            </a:pPr>
            <a:r>
              <a:t>Compiled Reference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338560" cy="5029200"/>
          </a:xfrm>
          <a:prstGeom prst="rect">
            <a:avLst/>
          </a:prstGeom>
          <a:solidFill>
            <a:srgbClr val="14181E"/>
          </a:solidFill>
          <a:ln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Tesla, Inc. Form 10-K for fiscal year ended Dec 31, 2023 (filed Jan 29, 2024).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Tesla, Inc. Q4 and FY 2023 Update Letter (Investor Relations).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Tesla, Inc. Impact Report (latest available official edition).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International Energy Agency (IEA), Global EV Outlook (latest edition).</a:t>
            </a:r>
          </a:p>
          <a:p>
            <a:pPr>
              <a:spcAft>
                <a:spcPts val="600"/>
              </a:spcAft>
              <a:defRPr sz="1800">
                <a:solidFill>
                  <a:srgbClr val="F5F5F5"/>
                </a:solidFill>
              </a:defRPr>
            </a:pPr>
            <a:r>
              <a:t>Relevant SEC filings and governance disclosures (Tesla proxy/annual documents).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ABEC6"/>
                </a:solidFill>
              </a:defRPr>
            </a:pPr>
            <a:r>
              <a:t>Note: Figures are presented with explicit periods/currency/units where used and are attributed to official disclosures.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